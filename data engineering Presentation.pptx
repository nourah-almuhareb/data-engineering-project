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71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Videos by Category (ETL Output)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Videos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Entertainment</c:v>
                </c:pt>
                <c:pt idx="1">
                  <c:v>Music</c:v>
                </c:pt>
                <c:pt idx="2">
                  <c:v>Howto &amp; Style</c:v>
                </c:pt>
                <c:pt idx="3">
                  <c:v>Comedy</c:v>
                </c:pt>
                <c:pt idx="4">
                  <c:v>People &amp; Blogs</c:v>
                </c:pt>
                <c:pt idx="5">
                  <c:v>News &amp; Politics</c:v>
                </c:pt>
                <c:pt idx="6">
                  <c:v>Science &amp; Tech</c:v>
                </c:pt>
                <c:pt idx="7">
                  <c:v>Film &amp; Animation</c:v>
                </c:pt>
                <c:pt idx="8">
                  <c:v>Sports</c:v>
                </c:pt>
                <c:pt idx="9">
                  <c:v>Education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9949</c:v>
                </c:pt>
                <c:pt idx="1">
                  <c:v>6472</c:v>
                </c:pt>
                <c:pt idx="2">
                  <c:v>4142</c:v>
                </c:pt>
                <c:pt idx="3">
                  <c:v>3458</c:v>
                </c:pt>
                <c:pt idx="4">
                  <c:v>3213</c:v>
                </c:pt>
                <c:pt idx="5">
                  <c:v>2485</c:v>
                </c:pt>
                <c:pt idx="6">
                  <c:v>2402</c:v>
                </c:pt>
                <c:pt idx="7">
                  <c:v>2343</c:v>
                </c:pt>
                <c:pt idx="8">
                  <c:v>2172</c:v>
                </c:pt>
                <c:pt idx="9">
                  <c:v>1660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F0-DD41-B740-B55D08E309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S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SA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900" b="0" i="0" u="none" strike="noStrike">
                <a:solidFill>
                  <a:srgbClr val="0D1B2A"/>
                </a:solidFill>
                <a:latin typeface="Arial"/>
              </a:rPr>
              <a:t>Execution Speed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ETL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Speed (sec)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CF-FA42-A884-D5B0727977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Speed (sec)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CF-FA42-A884-D5B0727977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S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SA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SA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900" b="0" i="0" u="none" strike="noStrike">
                <a:solidFill>
                  <a:srgbClr val="0D1B2A"/>
                </a:solidFill>
                <a:latin typeface="Arial"/>
              </a:rPr>
              <a:t>ELT: Views by Category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Views by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91-B349-BCBC-E5FF9B5DACB6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91-B349-BCBC-E5FF9B5DACB6}"/>
              </c:ext>
            </c:extLst>
          </c:dPt>
          <c:dPt>
            <c:idx val="2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C91-B349-BCBC-E5FF9B5DACB6}"/>
              </c:ext>
            </c:extLst>
          </c:dPt>
          <c:dPt>
            <c:idx val="3"/>
            <c:bubble3D val="0"/>
            <c:spPr>
              <a:solidFill>
                <a:srgbClr val="065F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C91-B349-BCBC-E5FF9B5DACB6}"/>
              </c:ext>
            </c:extLst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C91-B349-BCBC-E5FF9B5DACB6}"/>
              </c:ext>
            </c:extLst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C91-B349-BCBC-E5FF9B5DACB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C91-B349-BCBC-E5FF9B5DACB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91-B349-BCBC-E5FF9B5DACB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91-B349-BCBC-E5FF9B5DACB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91-B349-BCBC-E5FF9B5DACB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C91-B349-BCBC-E5FF9B5DACB6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C91-B349-BCBC-E5FF9B5DACB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SA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Entertainment</c:v>
                </c:pt>
                <c:pt idx="1">
                  <c:v>Comedy</c:v>
                </c:pt>
                <c:pt idx="2">
                  <c:v>People &amp; Blogs</c:v>
                </c:pt>
                <c:pt idx="3">
                  <c:v>Film &amp; Animation</c:v>
                </c:pt>
                <c:pt idx="4">
                  <c:v>Science &amp; Tech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2.7</c:v>
                </c:pt>
                <c:pt idx="2">
                  <c:v>1.8</c:v>
                </c:pt>
                <c:pt idx="3">
                  <c:v>1.2</c:v>
                </c:pt>
                <c:pt idx="4">
                  <c:v>0.9</c:v>
                </c:pt>
                <c:pt idx="5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C91-B349-BCBC-E5FF9B5DAC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/>
          </a:pPr>
          <a:endParaRPr lang="en-SA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900" b="0" i="0" u="none" strike="noStrike">
                <a:solidFill>
                  <a:srgbClr val="0D1B2A"/>
                </a:solidFill>
                <a:latin typeface="Arial"/>
              </a:rPr>
              <a:t>ETL: Top 5 Categories by Videos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ETL categories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Music</c:v>
                </c:pt>
                <c:pt idx="1">
                  <c:v>Entertainment</c:v>
                </c:pt>
                <c:pt idx="2">
                  <c:v>Comedy</c:v>
                </c:pt>
                <c:pt idx="3">
                  <c:v>People &amp; Blogs</c:v>
                </c:pt>
                <c:pt idx="4">
                  <c:v>Education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6472</c:v>
                </c:pt>
                <c:pt idx="1">
                  <c:v>9949</c:v>
                </c:pt>
                <c:pt idx="2">
                  <c:v>3458</c:v>
                </c:pt>
                <c:pt idx="3">
                  <c:v>3213</c:v>
                </c:pt>
                <c:pt idx="4">
                  <c:v>1660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06-7B43-8694-F039192A41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S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SA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090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 of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ELT Pipelines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11480" y="2487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YouTube Trending Data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11480" y="3154680"/>
            <a:ext cx="2926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411480" y="3291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 Nora Bint Abdulrahman University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Computer and Information Sciences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System  |  Group 2  |  Section 63s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4023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425196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Jood Ahmed Bagazi   |   Mashael Mohammed Algazlan   |   Reem Turki Alotaibi   |   Shoug Alghaihab   |   Nourah Almuharb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877824" y="69494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0292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4538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2" name="Shape 10"/>
          <p:cNvSpPr/>
          <p:nvPr/>
        </p:nvSpPr>
        <p:spPr>
          <a:xfrm>
            <a:off x="365760" y="1984248"/>
            <a:ext cx="50292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3657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0756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Data Sources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323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JSON, YouTube 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7" name="Shape 15"/>
          <p:cNvSpPr/>
          <p:nvPr/>
        </p:nvSpPr>
        <p:spPr>
          <a:xfrm>
            <a:off x="365760" y="2962656"/>
            <a:ext cx="50292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36576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0540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Design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410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 into SQLite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941064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2" name="Shape 20"/>
          <p:cNvSpPr/>
          <p:nvPr/>
        </p:nvSpPr>
        <p:spPr>
          <a:xfrm>
            <a:off x="365760" y="3941064"/>
            <a:ext cx="50292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36576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0325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Implementation &amp; Results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389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code, output, and BI dashboard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100584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7" name="Shape 25"/>
          <p:cNvSpPr/>
          <p:nvPr/>
        </p:nvSpPr>
        <p:spPr>
          <a:xfrm>
            <a:off x="4800600" y="1005840"/>
            <a:ext cx="50292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480060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1097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Pipeline Design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14538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Load → Transform in PostgreSQL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1984248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2" name="Shape 30"/>
          <p:cNvSpPr/>
          <p:nvPr/>
        </p:nvSpPr>
        <p:spPr>
          <a:xfrm>
            <a:off x="4800600" y="1984248"/>
            <a:ext cx="50292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48006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20756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Implementation &amp; Results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24323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PostgreSQL, automation, Power BI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2962656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7" name="Shape 35"/>
          <p:cNvSpPr/>
          <p:nvPr/>
        </p:nvSpPr>
        <p:spPr>
          <a:xfrm>
            <a:off x="4800600" y="2962656"/>
            <a:ext cx="50292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480060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30540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vs ELT Comparison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3410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scalability, efficiency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3941064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42" name="Shape 40"/>
          <p:cNvSpPr/>
          <p:nvPr/>
        </p:nvSpPr>
        <p:spPr>
          <a:xfrm>
            <a:off x="4800600" y="3941064"/>
            <a:ext cx="50292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480060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94960" y="40325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94960" y="4389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findings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877824" y="69494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Background and motivation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one of the most widely used social media platforms worldwide, with billions of active users and massive daily content generation. This makes it an ideal source for data engineering applications.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large-scale data efficiently requires choosing between 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two approaches that differ in how and where data transformation is performed.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96012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470916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344168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generates a large volume of daily data (views, likes, comments) that is difficult to handle at scale.
Traditional approaches may lead to:
• Slow performance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resource consumption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system efficiency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8503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502920" y="29900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64992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YouTube data from multiple sources (CSV, JSON, API)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67328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7240" y="3739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 an ETL pipeline — extract, transform, and load data</a:t>
            </a:r>
            <a:endParaRPr lang="en-US" sz="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69664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4142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 an ELT pipeline — extract, load raw data, then transform via SQL</a:t>
            </a:r>
            <a:endParaRPr lang="en-US" sz="9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36499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920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ETL vs. ELT: execution speed, resource usage, scalability, and data quality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76732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29200" y="3739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 to extract insights: popular categories, most viewed content, and engagement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Data 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877824" y="69494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Data collection and ingestion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024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0241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USvideos.csv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9768" y="1536192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 of US trending YouTube videos. Contains title, channel, publish time, views, likes, dislikes, comment count, and category_id.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9601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3246120" y="96012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024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10241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US_category_id.json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355848" y="1536192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numeric category IDs to readable names (Music, Entertainment, Gaming, Education, Sports…) for richer analysis.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72200" y="9601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7" name="Shape 13"/>
          <p:cNvSpPr/>
          <p:nvPr/>
        </p:nvSpPr>
        <p:spPr>
          <a:xfrm>
            <a:off x="6172200" y="96012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02412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10241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281928" y="1536192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metadata for selected categories: Music, Gaming, Entertainment, Comedy, Science &amp; Tech, People &amp; Blogs, Education. 5 results per category.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20040" y="3108960"/>
            <a:ext cx="8503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2" name="Text 17"/>
          <p:cNvSpPr/>
          <p:nvPr/>
        </p:nvSpPr>
        <p:spPr>
          <a:xfrm>
            <a:off x="502920" y="3172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Ingestion: Batch Processing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2920" y="34930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Batch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767328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" y="3749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extracted from CSV &amp; JSON files</a:t>
            </a:r>
            <a:endParaRPr lang="en-US" sz="9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087368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069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data from YouTube API</a:t>
            </a:r>
            <a:endParaRPr lang="en-US" sz="9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407408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31520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processes data before SQLite load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3337560" y="34930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Batch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767328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566160" y="3749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loaded directly into PostgreSQL staging tables</a:t>
            </a:r>
            <a:endParaRPr lang="en-US" sz="9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4087368"/>
            <a:ext cx="164592" cy="16459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566160" y="4069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run via SQL after loading</a:t>
            </a:r>
            <a:endParaRPr lang="en-US" sz="9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4407408"/>
            <a:ext cx="164592" cy="16459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566160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raw data for flexible re-use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6172200" y="34930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Batch?</a:t>
            </a:r>
            <a:endParaRPr lang="en-US" sz="10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767328"/>
            <a:ext cx="164592" cy="16459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400800" y="3749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structured historical datasets</a:t>
            </a:r>
            <a:endParaRPr lang="en-US" sz="9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4087368"/>
            <a:ext cx="164592" cy="164592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400800" y="4069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implement and debug</a:t>
            </a:r>
            <a:endParaRPr lang="en-US" sz="9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4407408"/>
            <a:ext cx="164592" cy="164592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400800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academic/analysis projects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Extract → Transform → Load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520440"/>
          </a:xfrm>
          <a:prstGeom prst="rect">
            <a:avLst/>
          </a:prstGeom>
          <a:solidFill>
            <a:srgbClr val="0F2A35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188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" y="1856232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548640" y="17922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USvideos.csv via pandas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4048" y="2478024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548640" y="24140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US_category_id.json mapping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4048" y="3099816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1"/>
          <p:cNvSpPr/>
          <p:nvPr/>
        </p:nvSpPr>
        <p:spPr>
          <a:xfrm>
            <a:off x="548640" y="3035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(7 categories, 5 results each)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017520" y="2788920"/>
            <a:ext cx="20116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pe 13"/>
          <p:cNvSpPr/>
          <p:nvPr/>
        </p:nvSpPr>
        <p:spPr>
          <a:xfrm>
            <a:off x="3200400" y="2743200"/>
            <a:ext cx="54864" cy="155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4"/>
          <p:cNvSpPr/>
          <p:nvPr/>
        </p:nvSpPr>
        <p:spPr>
          <a:xfrm>
            <a:off x="3246120" y="1143000"/>
            <a:ext cx="2743200" cy="3520440"/>
          </a:xfrm>
          <a:prstGeom prst="rect">
            <a:avLst/>
          </a:prstGeom>
          <a:solidFill>
            <a:srgbClr val="0F2A3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Shape 15"/>
          <p:cNvSpPr/>
          <p:nvPr/>
        </p:nvSpPr>
        <p:spPr>
          <a:xfrm>
            <a:off x="3246120" y="1143000"/>
            <a:ext cx="27432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188720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49040" y="1188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355848" y="185623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Text 18"/>
          <p:cNvSpPr/>
          <p:nvPr/>
        </p:nvSpPr>
        <p:spPr>
          <a:xfrm>
            <a:off x="3520440" y="17922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— remove nulls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355848" y="24780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Text 20"/>
          <p:cNvSpPr/>
          <p:nvPr/>
        </p:nvSpPr>
        <p:spPr>
          <a:xfrm>
            <a:off x="3520440" y="24140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 — remove dupes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355848" y="30998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Text 22"/>
          <p:cNvSpPr/>
          <p:nvPr/>
        </p:nvSpPr>
        <p:spPr>
          <a:xfrm>
            <a:off x="3520440" y="3035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category_id → category_name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355848" y="37216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8" name="Text 24"/>
          <p:cNvSpPr/>
          <p:nvPr/>
        </p:nvSpPr>
        <p:spPr>
          <a:xfrm>
            <a:off x="3520440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publish_time to datetime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355848" y="43434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Text 26"/>
          <p:cNvSpPr/>
          <p:nvPr/>
        </p:nvSpPr>
        <p:spPr>
          <a:xfrm>
            <a:off x="3520440" y="4279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engagement = likes / views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5989320" y="2788920"/>
            <a:ext cx="20116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2" name="Shape 28"/>
          <p:cNvSpPr/>
          <p:nvPr/>
        </p:nvSpPr>
        <p:spPr>
          <a:xfrm>
            <a:off x="6172200" y="2743200"/>
            <a:ext cx="54864" cy="155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3" name="Shape 29"/>
          <p:cNvSpPr/>
          <p:nvPr/>
        </p:nvSpPr>
        <p:spPr>
          <a:xfrm>
            <a:off x="6217920" y="1143000"/>
            <a:ext cx="2743200" cy="3520440"/>
          </a:xfrm>
          <a:prstGeom prst="rect">
            <a:avLst/>
          </a:prstGeom>
          <a:solidFill>
            <a:srgbClr val="0F2A35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4" name="Shape 30"/>
          <p:cNvSpPr/>
          <p:nvPr/>
        </p:nvSpPr>
        <p:spPr>
          <a:xfrm>
            <a:off x="6217920" y="1143000"/>
            <a:ext cx="2743200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188720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720840" y="1188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6327648" y="185623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8" name="Text 33"/>
          <p:cNvSpPr/>
          <p:nvPr/>
        </p:nvSpPr>
        <p:spPr>
          <a:xfrm>
            <a:off x="6492240" y="17922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SQLite (youtube_etl.db)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6327648" y="247802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0" name="Text 35"/>
          <p:cNvSpPr/>
          <p:nvPr/>
        </p:nvSpPr>
        <p:spPr>
          <a:xfrm>
            <a:off x="6492240" y="24140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youtube_data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327648" y="309981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2" name="Text 37"/>
          <p:cNvSpPr/>
          <p:nvPr/>
        </p:nvSpPr>
        <p:spPr>
          <a:xfrm>
            <a:off x="6492240" y="3035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if_exists='replace' for iterative dev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6327648" y="372160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4" name="Text 39"/>
          <p:cNvSpPr/>
          <p:nvPr/>
        </p:nvSpPr>
        <p:spPr>
          <a:xfrm>
            <a:off x="6492240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final_data.csv for BI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0F2A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6" name="Text 41"/>
          <p:cNvSpPr/>
          <p:nvPr/>
        </p:nvSpPr>
        <p:spPr>
          <a:xfrm>
            <a:off x="45720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youtube_etl.db  (SQLite)    +    final_data.csv  (for Power BI visualization)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ata pipeline architecture&#10;&#10;Description automatically generated">
            <a:extLst>
              <a:ext uri="{FF2B5EF4-FFF2-40B4-BE49-F238E27FC236}">
                <a16:creationId xmlns:a16="http://schemas.microsoft.com/office/drawing/2014/main" id="{33FDF1E1-D510-0654-8C54-4F3A61FA6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" y="290774"/>
            <a:ext cx="9019642" cy="456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25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Implementation — Python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877824" y="69494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Step-by-step pipeline execution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834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 — CSV &amp; JSON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1371600"/>
            <a:ext cx="2688336" cy="338328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402336" y="1426464"/>
            <a:ext cx="2578608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df_csv = pd.read_csv("USvideos.csv")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open("US_category_id.json") as f: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categories = json.load(f)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 = {int(item["id"]): item["snippet"]["title"]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for item in categories["items"]}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df_csv["category_name"] = df_csv["category_id"].map(mapping)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834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3337560" y="1005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Transform — Clean &amp; Enrich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9272" y="1371600"/>
            <a:ext cx="2688336" cy="338328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3374136" y="1426464"/>
            <a:ext cx="2578608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df_csv = df_csv[["title","channel_title",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"publish_time","views","likes","category_name"]]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df_csv["publish_time"] = pd.to_datetime(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df_csv["publish_time"], errors="coerce")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df_csv = df_csv.dropna().drop_duplicates()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df_combined = pd.concat([df_csv, df_api], ignore_index=True)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df_combined["engagement"] =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df_combined["likes"] / df_combined["views"])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7" name="Shape 15"/>
          <p:cNvSpPr/>
          <p:nvPr/>
        </p:nvSpPr>
        <p:spPr>
          <a:xfrm>
            <a:off x="6217920" y="960120"/>
            <a:ext cx="2834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6309360" y="1005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Load — SQLite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91072" y="1371600"/>
            <a:ext cx="2688336" cy="338328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6345936" y="1426464"/>
            <a:ext cx="2578608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= sqlite3.connect("youtube_etl.db")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df.to_sql("youtube_data", conn,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if_exists="replace", index=False)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Validation query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pd.read_sql("""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category_name, COUNT(*) AS total_videos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youtube_data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category_name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total_videos DESC""", conn)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Results &amp; BI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877824" y="69494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Output, query results, and visualization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4241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1005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1.6B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84048" y="139903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50592" y="9601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04241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9504" y="1005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560320" y="139903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26864" y="9601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04241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65776" y="1005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9.5M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736592" y="139903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Interactions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803136" y="9601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4" y="104241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42048" y="1005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9,949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6912864" y="139903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Videos</a:t>
            </a:r>
            <a:endParaRPr lang="en-US" sz="8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74320" y="205740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Shape 16"/>
          <p:cNvSpPr/>
          <p:nvPr/>
        </p:nvSpPr>
        <p:spPr>
          <a:xfrm>
            <a:off x="5760720" y="2057400"/>
            <a:ext cx="30632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4" name="Text 17"/>
          <p:cNvSpPr/>
          <p:nvPr/>
        </p:nvSpPr>
        <p:spPr>
          <a:xfrm>
            <a:off x="5897880" y="21214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Challenges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897880" y="2487168"/>
            <a:ext cx="2788920" cy="530352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Text 19"/>
          <p:cNvSpPr/>
          <p:nvPr/>
        </p:nvSpPr>
        <p:spPr>
          <a:xfrm>
            <a:off x="5989320" y="252374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Incorrect SQLite path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5989320" y="27614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Open DB with full absolute path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5897880" y="3072384"/>
            <a:ext cx="2788920" cy="530352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Text 22"/>
          <p:cNvSpPr/>
          <p:nvPr/>
        </p:nvSpPr>
        <p:spPr>
          <a:xfrm>
            <a:off x="5989320" y="3108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such table error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5989320" y="33467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Re-run ETL script to recreate table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5897880" y="3657600"/>
            <a:ext cx="2788920" cy="530352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2" name="Text 25"/>
          <p:cNvSpPr/>
          <p:nvPr/>
        </p:nvSpPr>
        <p:spPr>
          <a:xfrm>
            <a:off x="5989320" y="369417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API key syntax error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5989320" y="3931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Place key in variable, use in f-string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5897880" y="4242816"/>
            <a:ext cx="2788920" cy="530352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5" name="Text 28"/>
          <p:cNvSpPr/>
          <p:nvPr/>
        </p:nvSpPr>
        <p:spPr>
          <a:xfrm>
            <a:off x="5989320" y="427939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Large API console output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5989320" y="45171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Remove print(data), use df.head()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Introduction to ELT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877824" y="69494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Extract, Load, Transform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384048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— Extract, Transform, Load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Extract from source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56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Transform in Python/memory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Load clean data to warehouse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384048" y="2706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0"/>
            <a:ext cx="146304" cy="14630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03504" y="2898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preprocessing control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0"/>
            <a:ext cx="146304" cy="1463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3504" y="31729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 before storage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74720"/>
            <a:ext cx="146304" cy="1463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3504" y="34472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small datasets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709160" y="96012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2" name="Shape 17"/>
          <p:cNvSpPr/>
          <p:nvPr/>
        </p:nvSpPr>
        <p:spPr>
          <a:xfrm>
            <a:off x="4709160" y="96012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18"/>
          <p:cNvSpPr/>
          <p:nvPr/>
        </p:nvSpPr>
        <p:spPr>
          <a:xfrm>
            <a:off x="4818888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— Extract, Load, Transform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818888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89204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Extract from source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892040" y="1956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Load raw data to cloud DB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892040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Transform via SQL inside DB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818888" y="2633472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Text 24"/>
          <p:cNvSpPr/>
          <p:nvPr/>
        </p:nvSpPr>
        <p:spPr>
          <a:xfrm>
            <a:off x="4818888" y="2706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26080"/>
            <a:ext cx="146304" cy="14630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038344" y="2898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— raw data loads first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200400"/>
            <a:ext cx="146304" cy="14630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38344" y="31729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scalable with cloud DBs</a:t>
            </a:r>
            <a:endParaRPr lang="en-US" sz="9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474720"/>
            <a:ext cx="146304" cy="14630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038344" y="34472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transformations flexible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274320" y="4773168"/>
            <a:ext cx="8549640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7" name="Text 29"/>
          <p:cNvSpPr/>
          <p:nvPr/>
        </p:nvSpPr>
        <p:spPr>
          <a:xfrm>
            <a:off x="384048" y="480974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Python  |  Pandas  |  SQLAlchemy  |  Neon PostgreSQL (Cloud)  |  SQL Queries  |  Windows Task Scheduler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Pipeline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Extract → Load → Transform (SQL in Neon PostgreSQL)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657600"/>
          </a:xfrm>
          <a:prstGeom prst="rect">
            <a:avLst/>
          </a:prstGeom>
          <a:solidFill>
            <a:srgbClr val="0F2A35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9786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120700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4048" y="182880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548640" y="17647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USvideos.csv — trending video data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048" y="2432304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548640" y="23682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youtube_elt_source.db — category info (SQLite)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4048" y="3035808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1"/>
          <p:cNvSpPr/>
          <p:nvPr/>
        </p:nvSpPr>
        <p:spPr>
          <a:xfrm>
            <a:off x="548640" y="29718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video_id, title, views, likes, comments, category_id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017520" y="2834640"/>
            <a:ext cx="20116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pe 13"/>
          <p:cNvSpPr/>
          <p:nvPr/>
        </p:nvSpPr>
        <p:spPr>
          <a:xfrm>
            <a:off x="3246120" y="1143000"/>
            <a:ext cx="2743200" cy="3657600"/>
          </a:xfrm>
          <a:prstGeom prst="rect">
            <a:avLst/>
          </a:prstGeom>
          <a:solidFill>
            <a:srgbClr val="0F2A3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4"/>
          <p:cNvSpPr/>
          <p:nvPr/>
        </p:nvSpPr>
        <p:spPr>
          <a:xfrm>
            <a:off x="3246120" y="1143000"/>
            <a:ext cx="27432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197864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21608" y="120700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LOAD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355848" y="18288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7"/>
          <p:cNvSpPr/>
          <p:nvPr/>
        </p:nvSpPr>
        <p:spPr>
          <a:xfrm>
            <a:off x="3520440" y="17647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reads CSV &amp; SQLite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355848" y="243230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19"/>
          <p:cNvSpPr/>
          <p:nvPr/>
        </p:nvSpPr>
        <p:spPr>
          <a:xfrm>
            <a:off x="3520440" y="23682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connects to Neon PostgreSQL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355848" y="30358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Text 21"/>
          <p:cNvSpPr/>
          <p:nvPr/>
        </p:nvSpPr>
        <p:spPr>
          <a:xfrm>
            <a:off x="3520440" y="29718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→ stage_usvideos (staging)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355848" y="363931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3"/>
          <p:cNvSpPr/>
          <p:nvPr/>
        </p:nvSpPr>
        <p:spPr>
          <a:xfrm>
            <a:off x="3520440" y="35753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data → stage_categories (staging)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989320" y="2834640"/>
            <a:ext cx="20116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Shape 25"/>
          <p:cNvSpPr/>
          <p:nvPr/>
        </p:nvSpPr>
        <p:spPr>
          <a:xfrm>
            <a:off x="6217920" y="1143000"/>
            <a:ext cx="2743200" cy="3657600"/>
          </a:xfrm>
          <a:prstGeom prst="rect">
            <a:avLst/>
          </a:prstGeom>
          <a:solidFill>
            <a:srgbClr val="0F2A35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Shape 26"/>
          <p:cNvSpPr/>
          <p:nvPr/>
        </p:nvSpPr>
        <p:spPr>
          <a:xfrm>
            <a:off x="6217920" y="1143000"/>
            <a:ext cx="2743200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197864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693408" y="120700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(SQL)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327648" y="182880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4" name="Text 29"/>
          <p:cNvSpPr/>
          <p:nvPr/>
        </p:nvSpPr>
        <p:spPr>
          <a:xfrm>
            <a:off x="6492240" y="17647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stage_usvideos + stage_categories on category_id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327648" y="243230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6" name="Text 31"/>
          <p:cNvSpPr/>
          <p:nvPr/>
        </p:nvSpPr>
        <p:spPr>
          <a:xfrm>
            <a:off x="6492240" y="23682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→ handle missing category names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327648" y="303580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8" name="Text 33"/>
          <p:cNvSpPr/>
          <p:nvPr/>
        </p:nvSpPr>
        <p:spPr>
          <a:xfrm>
            <a:off x="6492240" y="29718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views &gt; 0 — filter invalid records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327648" y="363931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0" name="Text 35"/>
          <p:cNvSpPr/>
          <p:nvPr/>
        </p:nvSpPr>
        <p:spPr>
          <a:xfrm>
            <a:off x="6492240" y="35753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engagement_rate = likes::numeric / views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327648" y="424281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2" name="Text 37"/>
          <p:cNvSpPr/>
          <p:nvPr/>
        </p:nvSpPr>
        <p:spPr>
          <a:xfrm>
            <a:off x="6492240" y="41788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stored in final_youtube_data table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0F2A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4" name="Text 39"/>
          <p:cNvSpPr/>
          <p:nvPr/>
        </p:nvSpPr>
        <p:spPr>
          <a:xfrm>
            <a:off x="457200" y="49103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final_youtube_data  (Neon PostgreSQL)  →  Power BI Dashboard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ata pipeline&#10;&#10;Description automatically generated">
            <a:extLst>
              <a:ext uri="{FF2B5EF4-FFF2-40B4-BE49-F238E27FC236}">
                <a16:creationId xmlns:a16="http://schemas.microsoft.com/office/drawing/2014/main" id="{20B081B7-744A-1554-CD45-2C29BC6CA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01" y="330193"/>
            <a:ext cx="8880797" cy="448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26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— SQL-Based Transformation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877824" y="69494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6.4 — Transform inside Neon PostgreSQL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029200" cy="4023360"/>
          </a:xfrm>
          <a:prstGeom prst="rect">
            <a:avLst/>
          </a:prstGeom>
          <a:solidFill>
            <a:srgbClr val="1A2E3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Transformation Script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IF EXISTS final_youtube_data;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final_youtube_data 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video_id TEXT, title TEXT,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channel_title TEXT, category_id BIGINT,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category_name TEXT, views BIGINT,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likes BIGINT, comment_count BIGINT,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engagement_rate NUMERIC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final_youtube_data (...)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v.video_id, v.title, v.channel_title,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v.category_id,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COALESCE(c.category_name,'Unknown') AS category_name,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v.views, v.likes, v.comment_count,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v.likes::numeric / v.views AS engagement_rate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stage_usvideos v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stage_categories c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v.category_id = c.category_id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v.views &gt; 0;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5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final_youtube_data LIMIT 10;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5440680" y="960120"/>
            <a:ext cx="33832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5577840" y="1024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Steps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417320"/>
            <a:ext cx="3154680" cy="530352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5650992" y="1453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Preview Staging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50992" y="16733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10 rows from stage_categories and stage_usvideos to verify load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77840" y="2002536"/>
            <a:ext cx="31546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5650992" y="20391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Drop &amp; Recreate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50992" y="22585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existing final_youtube_data table to ensure fresh transformation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77840" y="2587752"/>
            <a:ext cx="3154680" cy="530352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5650992" y="26243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JOIN Tables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50992" y="28437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stage_usvideos ↔ stage_categories on category_id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3172968"/>
            <a:ext cx="31546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5650992" y="32095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Handle Nulls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50992" y="34290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maps missing category names to 'Unknown'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77840" y="3758184"/>
            <a:ext cx="3154680" cy="530352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5650992" y="3794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Calculate KPI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50992" y="40142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engagement_rate = likes::numeric / views per video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77840" y="4343400"/>
            <a:ext cx="31546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5650992" y="43799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Filter Invalid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50992" y="45994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views &gt; 0 removes zero-view records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vs ELT — Performance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877824" y="69494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7.4 — Speed, Scalability, Efficiency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606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 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ELT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scalable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scalable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ELT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ELT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data kept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ELT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datasets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Large/cloud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365760" y="3703320"/>
          <a:ext cx="402336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4572000" y="3703320"/>
            <a:ext cx="4206240" cy="12801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9" name="Text 5"/>
          <p:cNvSpPr/>
          <p:nvPr/>
        </p:nvSpPr>
        <p:spPr>
          <a:xfrm>
            <a:off x="4709160" y="3767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709160" y="4059936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is 12× faster than ETL (0.5s vs 6s) because transformations are performed inside Neon PostgreSQL using native SQL, avoiding heavy Python pre-processing. ETL remains preferable for smaller datasets requiring strict preprocessing before storage.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Power BI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877824" y="69494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7.2–7.3 — Visualization and scheduling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0584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Pipeline Automation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426464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3504" y="139903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Python script tested in VS Code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70992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504" y="16824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Task Scheduler configured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993392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3504" y="19659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set to run daily automatically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276856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3504" y="224942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interpreter path selected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560320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3504" y="253288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script path added to task config</a:t>
            </a:r>
            <a:endParaRPr lang="en-US" sz="9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843784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03504" y="28163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tested manually — confirmed success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4572000" y="960120"/>
            <a:ext cx="4251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3" name="Shape 14"/>
          <p:cNvSpPr/>
          <p:nvPr/>
        </p:nvSpPr>
        <p:spPr>
          <a:xfrm>
            <a:off x="4572000" y="960120"/>
            <a:ext cx="4251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1005840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56048" y="1005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Highlights</a:t>
            </a:r>
            <a:endParaRPr lang="en-US" sz="1000" dirty="0"/>
          </a:p>
        </p:txBody>
      </p:sp>
      <p:sp>
        <p:nvSpPr>
          <p:cNvPr id="26" name="Text 16"/>
          <p:cNvSpPr/>
          <p:nvPr/>
        </p:nvSpPr>
        <p:spPr>
          <a:xfrm>
            <a:off x="4681728" y="13898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Dashboard</a:t>
            </a:r>
            <a:endParaRPr lang="en-US" sz="900" dirty="0"/>
          </a:p>
        </p:txBody>
      </p:sp>
      <p:sp>
        <p:nvSpPr>
          <p:cNvPr id="27" name="Shape 17"/>
          <p:cNvSpPr/>
          <p:nvPr/>
        </p:nvSpPr>
        <p:spPr>
          <a:xfrm>
            <a:off x="4681728" y="166420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8" name="Text 18"/>
          <p:cNvSpPr/>
          <p:nvPr/>
        </p:nvSpPr>
        <p:spPr>
          <a:xfrm>
            <a:off x="4809744" y="1618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Views by Category (bar)</a:t>
            </a:r>
            <a:endParaRPr lang="en-US" sz="850" dirty="0"/>
          </a:p>
        </p:txBody>
      </p:sp>
      <p:sp>
        <p:nvSpPr>
          <p:cNvPr id="29" name="Shape 19"/>
          <p:cNvSpPr/>
          <p:nvPr/>
        </p:nvSpPr>
        <p:spPr>
          <a:xfrm>
            <a:off x="4681728" y="186537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Text 20"/>
          <p:cNvSpPr/>
          <p:nvPr/>
        </p:nvSpPr>
        <p:spPr>
          <a:xfrm>
            <a:off x="4809744" y="18196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Distribution (pie chart)</a:t>
            </a:r>
            <a:endParaRPr lang="en-US" sz="850" dirty="0"/>
          </a:p>
        </p:txBody>
      </p:sp>
      <p:sp>
        <p:nvSpPr>
          <p:cNvPr id="31" name="Shape 21"/>
          <p:cNvSpPr/>
          <p:nvPr/>
        </p:nvSpPr>
        <p:spPr>
          <a:xfrm>
            <a:off x="4681728" y="206654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2" name="Text 22"/>
          <p:cNvSpPr/>
          <p:nvPr/>
        </p:nvSpPr>
        <p:spPr>
          <a:xfrm>
            <a:off x="4809744" y="20208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trend line</a:t>
            </a:r>
            <a:endParaRPr lang="en-US" sz="850" dirty="0"/>
          </a:p>
        </p:txBody>
      </p:sp>
      <p:sp>
        <p:nvSpPr>
          <p:cNvPr id="33" name="Shape 23"/>
          <p:cNvSpPr/>
          <p:nvPr/>
        </p:nvSpPr>
        <p:spPr>
          <a:xfrm>
            <a:off x="4681728" y="226771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4" name="Text 24"/>
          <p:cNvSpPr/>
          <p:nvPr/>
        </p:nvSpPr>
        <p:spPr>
          <a:xfrm>
            <a:off x="4809744" y="22219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1.6B views, Top: Music, 9.5M likes</a:t>
            </a:r>
            <a:endParaRPr lang="en-US" sz="850" dirty="0"/>
          </a:p>
        </p:txBody>
      </p:sp>
      <p:sp>
        <p:nvSpPr>
          <p:cNvPr id="35" name="Text 25"/>
          <p:cNvSpPr/>
          <p:nvPr/>
        </p:nvSpPr>
        <p:spPr>
          <a:xfrm>
            <a:off x="4681728" y="2350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Dashboard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4681728" y="262432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7" name="Text 27"/>
          <p:cNvSpPr/>
          <p:nvPr/>
        </p:nvSpPr>
        <p:spPr>
          <a:xfrm>
            <a:off x="4809744" y="25786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 Total Views</a:t>
            </a:r>
            <a:endParaRPr lang="en-US" sz="850" dirty="0"/>
          </a:p>
        </p:txBody>
      </p:sp>
      <p:sp>
        <p:nvSpPr>
          <p:cNvPr id="38" name="Shape 28"/>
          <p:cNvSpPr/>
          <p:nvPr/>
        </p:nvSpPr>
        <p:spPr>
          <a:xfrm>
            <a:off x="4681728" y="282549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9" name="Text 29"/>
          <p:cNvSpPr/>
          <p:nvPr/>
        </p:nvSpPr>
        <p:spPr>
          <a:xfrm>
            <a:off x="4809744" y="27797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484K Total Likes  |  62K Comments</a:t>
            </a:r>
            <a:endParaRPr lang="en-US" sz="850" dirty="0"/>
          </a:p>
        </p:txBody>
      </p:sp>
      <p:sp>
        <p:nvSpPr>
          <p:cNvPr id="40" name="Shape 30"/>
          <p:cNvSpPr/>
          <p:nvPr/>
        </p:nvSpPr>
        <p:spPr>
          <a:xfrm>
            <a:off x="4681728" y="302666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1" name="Text 31"/>
          <p:cNvSpPr/>
          <p:nvPr/>
        </p:nvSpPr>
        <p:spPr>
          <a:xfrm>
            <a:off x="4809744" y="29809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by Category &amp; Channel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4681728" y="322783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3" name="Text 33"/>
          <p:cNvSpPr/>
          <p:nvPr/>
        </p:nvSpPr>
        <p:spPr>
          <a:xfrm>
            <a:off x="4809744" y="31821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views vs likes by category</a:t>
            </a:r>
            <a:endParaRPr lang="en-US" sz="85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74320" y="3291840"/>
          <a:ext cx="4114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Chart 1"/>
          <p:cNvGraphicFramePr/>
          <p:nvPr/>
        </p:nvGraphicFramePr>
        <p:xfrm>
          <a:off x="4572000" y="3291840"/>
          <a:ext cx="42519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7.5 — Summary of findings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1508760"/>
          </a:xfrm>
          <a:prstGeom prst="rect">
            <a:avLst/>
          </a:prstGeom>
          <a:solidFill>
            <a:srgbClr val="0F2A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0292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824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52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157276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extracted YouTube data from CSV, JSON, and API. Transformed data in Python and loaded into SQLite. Full pipeline executed in Python with BI dashboard via Power BI.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115568"/>
            <a:ext cx="4114800" cy="1508760"/>
          </a:xfrm>
          <a:prstGeom prst="rect">
            <a:avLst/>
          </a:prstGeom>
          <a:solidFill>
            <a:srgbClr val="0F2A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4754880" y="1115568"/>
            <a:ext cx="50292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6824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252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Pipeline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49240" y="157276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loaded directly into Neon PostgreSQL staging tables. SQL transformations applied inside the database. Automated daily execution via Windows Task Scheduler.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0040" y="2807208"/>
            <a:ext cx="4114800" cy="1508760"/>
          </a:xfrm>
          <a:prstGeom prst="rect">
            <a:avLst/>
          </a:prstGeom>
          <a:solidFill>
            <a:srgbClr val="0F2A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pe 12"/>
          <p:cNvSpPr/>
          <p:nvPr/>
        </p:nvSpPr>
        <p:spPr>
          <a:xfrm>
            <a:off x="320040" y="2807208"/>
            <a:ext cx="50292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3741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2944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is 12× Faster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14400" y="326440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completed in 0.5s vs 6s for ETL — transformations inside the database engine are significantly more efficient than Python pre-processing.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754880" y="2807208"/>
            <a:ext cx="4114800" cy="1508760"/>
          </a:xfrm>
          <a:prstGeom prst="rect">
            <a:avLst/>
          </a:prstGeom>
          <a:solidFill>
            <a:srgbClr val="0F2A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Shape 16"/>
          <p:cNvSpPr/>
          <p:nvPr/>
        </p:nvSpPr>
        <p:spPr>
          <a:xfrm>
            <a:off x="4754880" y="2807208"/>
            <a:ext cx="50292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37413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2944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for Control, ELT for Scale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349240" y="326440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offers tighter control over preprocessing and data quality. ELT is more scalable and flexible for cloud environments and large datasets.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Text 20"/>
          <p:cNvSpPr/>
          <p:nvPr/>
        </p:nvSpPr>
        <p:spPr>
          <a:xfrm>
            <a:off x="274320" y="487375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"Selecting the right pipeline architecture depends on data size, processing requirements, and system scalability."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192024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(IEEE Format)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2487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Statista, "Most Used Social Networks 2025," Apr. 2026.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Microsoft, "ETL vs ELT: What's the Difference?" Microsoft Learn, 2023.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71600" y="3182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AWS, "What is ETL?" Amazon Web Services, 2023.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71600" y="35295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Google, "YouTube Data API Overview," Google Developers, 2024.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71600" y="38770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SQLite, "About SQLite," SQLite Official Documentation, 2024.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71600" y="4224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W. McKinney, Python for Data Analysis, 2nd ed. O'Reilly Media, 2017.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274320" y="487375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 Nora Bint Abdulrahman University  |  Department of Information System  |  Group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2095</Words>
  <Application>Microsoft Macintosh PowerPoint</Application>
  <PresentationFormat>On-screen Show (16:9)</PresentationFormat>
  <Paragraphs>306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&amp; ELT Pipeline for YouTube Trending Data</dc:title>
  <dc:subject>PptxGenJS Presentation</dc:subject>
  <dc:creator>PptxGenJS</dc:creator>
  <cp:lastModifiedBy>ريم تركي زبن العتيبي</cp:lastModifiedBy>
  <cp:revision>2</cp:revision>
  <dcterms:created xsi:type="dcterms:W3CDTF">2026-05-10T20:01:38Z</dcterms:created>
  <dcterms:modified xsi:type="dcterms:W3CDTF">2026-05-10T20:11:48Z</dcterms:modified>
</cp:coreProperties>
</file>